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3"/>
  </p:normalViewPr>
  <p:slideViewPr>
    <p:cSldViewPr snapToGrid="0" snapToObjects="1">
      <p:cViewPr varScale="1">
        <p:scale>
          <a:sx n="90" d="100"/>
          <a:sy n="90" d="100"/>
        </p:scale>
        <p:origin x="23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D4BB2-C7CA-4236-8C19-4989B5B7B4C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591EF4-171E-45A9-B806-258BBE0D380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models resulting from our (limited) 1600 examples, we are able to match human prediction </a:t>
          </a:r>
          <a:r>
            <a:rPr lang="en-GB" b="1" dirty="0"/>
            <a:t>&gt;90% </a:t>
          </a:r>
          <a:r>
            <a:rPr lang="en-GB" dirty="0"/>
            <a:t>of the time</a:t>
          </a:r>
          <a:endParaRPr lang="en-US" dirty="0"/>
        </a:p>
      </dgm:t>
    </dgm:pt>
    <dgm:pt modelId="{7E52E8D6-ED9F-49B0-A710-AC5CCD03EC7A}" type="parTrans" cxnId="{6092335A-D550-4E98-B0F3-624DE3D6F9D3}">
      <dgm:prSet/>
      <dgm:spPr/>
      <dgm:t>
        <a:bodyPr/>
        <a:lstStyle/>
        <a:p>
          <a:endParaRPr lang="en-US"/>
        </a:p>
      </dgm:t>
    </dgm:pt>
    <dgm:pt modelId="{69F4D1F5-FA34-4D81-8E51-0B41011E7302}" type="sibTrans" cxnId="{6092335A-D550-4E98-B0F3-624DE3D6F9D3}">
      <dgm:prSet/>
      <dgm:spPr/>
      <dgm:t>
        <a:bodyPr/>
        <a:lstStyle/>
        <a:p>
          <a:endParaRPr lang="en-US"/>
        </a:p>
      </dgm:t>
    </dgm:pt>
    <dgm:pt modelId="{9D1A7280-E1F0-4A98-8BEA-AE79FD3DAE1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Final deliverables include the model along with its documentation</a:t>
          </a:r>
          <a:endParaRPr lang="en-US"/>
        </a:p>
      </dgm:t>
    </dgm:pt>
    <dgm:pt modelId="{78B70F0D-2583-4F87-B805-5F38E6B93ACD}" type="parTrans" cxnId="{7D485073-B7BC-45BD-ADB9-0CCE515A560E}">
      <dgm:prSet/>
      <dgm:spPr/>
      <dgm:t>
        <a:bodyPr/>
        <a:lstStyle/>
        <a:p>
          <a:endParaRPr lang="en-US"/>
        </a:p>
      </dgm:t>
    </dgm:pt>
    <dgm:pt modelId="{6C99536B-66CE-446F-896D-3E16684DD3EC}" type="sibTrans" cxnId="{7D485073-B7BC-45BD-ADB9-0CCE515A560E}">
      <dgm:prSet/>
      <dgm:spPr/>
      <dgm:t>
        <a:bodyPr/>
        <a:lstStyle/>
        <a:p>
          <a:endParaRPr lang="en-US"/>
        </a:p>
      </dgm:t>
    </dgm:pt>
    <dgm:pt modelId="{9A586B16-6365-467F-AA49-BE96EBA91D02}" type="pres">
      <dgm:prSet presAssocID="{A54D4BB2-C7CA-4236-8C19-4989B5B7B4C1}" presName="root" presStyleCnt="0">
        <dgm:presLayoutVars>
          <dgm:dir/>
          <dgm:resizeHandles val="exact"/>
        </dgm:presLayoutVars>
      </dgm:prSet>
      <dgm:spPr/>
    </dgm:pt>
    <dgm:pt modelId="{EE1E78B7-0D34-409C-8AB2-0471DC687E6A}" type="pres">
      <dgm:prSet presAssocID="{D0591EF4-171E-45A9-B806-258BBE0D380D}" presName="compNode" presStyleCnt="0"/>
      <dgm:spPr/>
    </dgm:pt>
    <dgm:pt modelId="{BB5896B0-8B6B-45E4-987F-78BD86F9F542}" type="pres">
      <dgm:prSet presAssocID="{D0591EF4-171E-45A9-B806-258BBE0D380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8AD9C90-EDAE-4BDE-9688-F636C0718221}" type="pres">
      <dgm:prSet presAssocID="{D0591EF4-171E-45A9-B806-258BBE0D380D}" presName="spaceRect" presStyleCnt="0"/>
      <dgm:spPr/>
    </dgm:pt>
    <dgm:pt modelId="{4BB75B09-55B1-4EB0-853D-E84747675593}" type="pres">
      <dgm:prSet presAssocID="{D0591EF4-171E-45A9-B806-258BBE0D380D}" presName="textRect" presStyleLbl="revTx" presStyleIdx="0" presStyleCnt="2">
        <dgm:presLayoutVars>
          <dgm:chMax val="1"/>
          <dgm:chPref val="1"/>
        </dgm:presLayoutVars>
      </dgm:prSet>
      <dgm:spPr/>
    </dgm:pt>
    <dgm:pt modelId="{46C10C79-0E13-4C48-8C3A-5CD19460466F}" type="pres">
      <dgm:prSet presAssocID="{69F4D1F5-FA34-4D81-8E51-0B41011E7302}" presName="sibTrans" presStyleCnt="0"/>
      <dgm:spPr/>
    </dgm:pt>
    <dgm:pt modelId="{71376611-B78E-44EE-99F5-BC4406BACDD5}" type="pres">
      <dgm:prSet presAssocID="{9D1A7280-E1F0-4A98-8BEA-AE79FD3DAE13}" presName="compNode" presStyleCnt="0"/>
      <dgm:spPr/>
    </dgm:pt>
    <dgm:pt modelId="{91263662-9E50-460B-A37A-A30A2902D79B}" type="pres">
      <dgm:prSet presAssocID="{9D1A7280-E1F0-4A98-8BEA-AE79FD3DAE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83B82B4-0770-44F4-B87D-35EC83A9725C}" type="pres">
      <dgm:prSet presAssocID="{9D1A7280-E1F0-4A98-8BEA-AE79FD3DAE13}" presName="spaceRect" presStyleCnt="0"/>
      <dgm:spPr/>
    </dgm:pt>
    <dgm:pt modelId="{E8F1F649-2996-4744-BAE4-D5084A6FE057}" type="pres">
      <dgm:prSet presAssocID="{9D1A7280-E1F0-4A98-8BEA-AE79FD3DAE1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B0F8B2A-10A1-E544-A65B-2B67567480EC}" type="presOf" srcId="{D0591EF4-171E-45A9-B806-258BBE0D380D}" destId="{4BB75B09-55B1-4EB0-853D-E84747675593}" srcOrd="0" destOrd="0" presId="urn:microsoft.com/office/officeart/2018/2/layout/IconLabelList"/>
    <dgm:cxn modelId="{6092335A-D550-4E98-B0F3-624DE3D6F9D3}" srcId="{A54D4BB2-C7CA-4236-8C19-4989B5B7B4C1}" destId="{D0591EF4-171E-45A9-B806-258BBE0D380D}" srcOrd="0" destOrd="0" parTransId="{7E52E8D6-ED9F-49B0-A710-AC5CCD03EC7A}" sibTransId="{69F4D1F5-FA34-4D81-8E51-0B41011E7302}"/>
    <dgm:cxn modelId="{7D485073-B7BC-45BD-ADB9-0CCE515A560E}" srcId="{A54D4BB2-C7CA-4236-8C19-4989B5B7B4C1}" destId="{9D1A7280-E1F0-4A98-8BEA-AE79FD3DAE13}" srcOrd="1" destOrd="0" parTransId="{78B70F0D-2583-4F87-B805-5F38E6B93ACD}" sibTransId="{6C99536B-66CE-446F-896D-3E16684DD3EC}"/>
    <dgm:cxn modelId="{6093DEA8-6EF1-FC47-A48F-99BBBE980B83}" type="presOf" srcId="{A54D4BB2-C7CA-4236-8C19-4989B5B7B4C1}" destId="{9A586B16-6365-467F-AA49-BE96EBA91D02}" srcOrd="0" destOrd="0" presId="urn:microsoft.com/office/officeart/2018/2/layout/IconLabelList"/>
    <dgm:cxn modelId="{765EF1E9-4CDB-BF4F-A490-B3822940D519}" type="presOf" srcId="{9D1A7280-E1F0-4A98-8BEA-AE79FD3DAE13}" destId="{E8F1F649-2996-4744-BAE4-D5084A6FE057}" srcOrd="0" destOrd="0" presId="urn:microsoft.com/office/officeart/2018/2/layout/IconLabelList"/>
    <dgm:cxn modelId="{8642130F-1246-764D-B86A-3DF3619DFC77}" type="presParOf" srcId="{9A586B16-6365-467F-AA49-BE96EBA91D02}" destId="{EE1E78B7-0D34-409C-8AB2-0471DC687E6A}" srcOrd="0" destOrd="0" presId="urn:microsoft.com/office/officeart/2018/2/layout/IconLabelList"/>
    <dgm:cxn modelId="{3D15318C-F196-C445-B70A-C5AB1BAC9502}" type="presParOf" srcId="{EE1E78B7-0D34-409C-8AB2-0471DC687E6A}" destId="{BB5896B0-8B6B-45E4-987F-78BD86F9F542}" srcOrd="0" destOrd="0" presId="urn:microsoft.com/office/officeart/2018/2/layout/IconLabelList"/>
    <dgm:cxn modelId="{19D3A8F8-1F05-1442-AD30-60AFB64BDEE4}" type="presParOf" srcId="{EE1E78B7-0D34-409C-8AB2-0471DC687E6A}" destId="{48AD9C90-EDAE-4BDE-9688-F636C0718221}" srcOrd="1" destOrd="0" presId="urn:microsoft.com/office/officeart/2018/2/layout/IconLabelList"/>
    <dgm:cxn modelId="{9A98F53F-5BED-504B-910E-A5AD89D118DC}" type="presParOf" srcId="{EE1E78B7-0D34-409C-8AB2-0471DC687E6A}" destId="{4BB75B09-55B1-4EB0-853D-E84747675593}" srcOrd="2" destOrd="0" presId="urn:microsoft.com/office/officeart/2018/2/layout/IconLabelList"/>
    <dgm:cxn modelId="{7C04A062-21C9-744C-8F6E-0DC4E47789B9}" type="presParOf" srcId="{9A586B16-6365-467F-AA49-BE96EBA91D02}" destId="{46C10C79-0E13-4C48-8C3A-5CD19460466F}" srcOrd="1" destOrd="0" presId="urn:microsoft.com/office/officeart/2018/2/layout/IconLabelList"/>
    <dgm:cxn modelId="{74C7F311-6217-AB47-9F08-001965D9D75A}" type="presParOf" srcId="{9A586B16-6365-467F-AA49-BE96EBA91D02}" destId="{71376611-B78E-44EE-99F5-BC4406BACDD5}" srcOrd="2" destOrd="0" presId="urn:microsoft.com/office/officeart/2018/2/layout/IconLabelList"/>
    <dgm:cxn modelId="{90491128-F23A-5943-821C-F37D3DB116FE}" type="presParOf" srcId="{71376611-B78E-44EE-99F5-BC4406BACDD5}" destId="{91263662-9E50-460B-A37A-A30A2902D79B}" srcOrd="0" destOrd="0" presId="urn:microsoft.com/office/officeart/2018/2/layout/IconLabelList"/>
    <dgm:cxn modelId="{E6711FBF-D439-594E-ADD5-690B8A36CA64}" type="presParOf" srcId="{71376611-B78E-44EE-99F5-BC4406BACDD5}" destId="{F83B82B4-0770-44F4-B87D-35EC83A9725C}" srcOrd="1" destOrd="0" presId="urn:microsoft.com/office/officeart/2018/2/layout/IconLabelList"/>
    <dgm:cxn modelId="{7C04C324-75A6-D546-9544-AE6C527893BB}" type="presParOf" srcId="{71376611-B78E-44EE-99F5-BC4406BACDD5}" destId="{E8F1F649-2996-4744-BAE4-D5084A6FE05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896B0-8B6B-45E4-987F-78BD86F9F542}">
      <dsp:nvSpPr>
        <dsp:cNvPr id="0" name=""/>
        <dsp:cNvSpPr/>
      </dsp:nvSpPr>
      <dsp:spPr>
        <a:xfrm>
          <a:off x="1747800" y="50691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75B09-55B1-4EB0-853D-E84747675593}">
      <dsp:nvSpPr>
        <dsp:cNvPr id="0" name=""/>
        <dsp:cNvSpPr/>
      </dsp:nvSpPr>
      <dsp:spPr>
        <a:xfrm>
          <a:off x="559800" y="292122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The models resulting from our (limited) 1600 examples, we are able to match human prediction </a:t>
          </a:r>
          <a:r>
            <a:rPr lang="en-GB" sz="1500" b="1" kern="1200" dirty="0"/>
            <a:t>&gt;90% </a:t>
          </a:r>
          <a:r>
            <a:rPr lang="en-GB" sz="1500" kern="1200" dirty="0"/>
            <a:t>of the time</a:t>
          </a:r>
          <a:endParaRPr lang="en-US" sz="1500" kern="1200" dirty="0"/>
        </a:p>
      </dsp:txBody>
      <dsp:txXfrm>
        <a:off x="559800" y="2921224"/>
        <a:ext cx="4320000" cy="720000"/>
      </dsp:txXfrm>
    </dsp:sp>
    <dsp:sp modelId="{91263662-9E50-460B-A37A-A30A2902D79B}">
      <dsp:nvSpPr>
        <dsp:cNvPr id="0" name=""/>
        <dsp:cNvSpPr/>
      </dsp:nvSpPr>
      <dsp:spPr>
        <a:xfrm>
          <a:off x="6823800" y="50691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1F649-2996-4744-BAE4-D5084A6FE057}">
      <dsp:nvSpPr>
        <dsp:cNvPr id="0" name=""/>
        <dsp:cNvSpPr/>
      </dsp:nvSpPr>
      <dsp:spPr>
        <a:xfrm>
          <a:off x="5635800" y="292122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Final deliverables include the model along with its documentation</a:t>
          </a:r>
          <a:endParaRPr lang="en-US" sz="1500" kern="1200"/>
        </a:p>
      </dsp:txBody>
      <dsp:txXfrm>
        <a:off x="5635800" y="2921224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5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73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1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6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5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1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2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5/16/20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33" r:id="rId5"/>
    <p:sldLayoutId id="2147483734" r:id="rId6"/>
    <p:sldLayoutId id="2147483740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764E0904-5ABD-4DC7-8562-C38580C95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41FEE92F-4E7C-4E52-A481-FA925AFF5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453" b="2297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F66E13-DBBE-5B43-9200-753F0E7CE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en-GB" sz="4400" dirty="0"/>
              <a:t>Assessing wine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30AA27-A112-074D-A7BD-9B13F7A04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92499"/>
            <a:ext cx="5147960" cy="646785"/>
          </a:xfrm>
        </p:spPr>
        <p:txBody>
          <a:bodyPr>
            <a:normAutofit/>
          </a:bodyPr>
          <a:lstStyle/>
          <a:p>
            <a:r>
              <a:rPr lang="en-GB" sz="2000" dirty="0"/>
              <a:t>Coursera Advanced Capstone</a:t>
            </a:r>
          </a:p>
        </p:txBody>
      </p:sp>
    </p:spTree>
    <p:extLst>
      <p:ext uri="{BB962C8B-B14F-4D97-AF65-F5344CB8AC3E}">
        <p14:creationId xmlns:p14="http://schemas.microsoft.com/office/powerpoint/2010/main" val="10963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FFCF-37FF-8A44-8B3E-60E73C6C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48963" cy="1325563"/>
          </a:xfrm>
        </p:spPr>
        <p:txBody>
          <a:bodyPr/>
          <a:lstStyle/>
          <a:p>
            <a:r>
              <a:rPr lang="en-GB" dirty="0"/>
              <a:t>Vineyards always collect and sample their products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6F4066-ADD0-444E-833F-3E2EEF16D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27645"/>
            <a:ext cx="10515600" cy="25282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9D77C7-4CEB-DE42-B43D-241FAE0B7A92}"/>
              </a:ext>
            </a:extLst>
          </p:cNvPr>
          <p:cNvSpPr txBox="1"/>
          <p:nvPr/>
        </p:nvSpPr>
        <p:spPr>
          <a:xfrm>
            <a:off x="838199" y="5543550"/>
            <a:ext cx="1049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Dataset contains 1600 wine batches, chemically analysed (Cortez et al., 2009)</a:t>
            </a:r>
          </a:p>
        </p:txBody>
      </p:sp>
    </p:spTree>
    <p:extLst>
      <p:ext uri="{BB962C8B-B14F-4D97-AF65-F5344CB8AC3E}">
        <p14:creationId xmlns:p14="http://schemas.microsoft.com/office/powerpoint/2010/main" val="382269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7A543-F91C-0842-A332-C449F55F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GB" sz="3100"/>
              <a:t>All stakeholders to benefit from automatic quality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DFD5-8CAD-0949-8056-E99F66A0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GB" sz="2000" dirty="0"/>
              <a:t>Today, wine batches are quality assessed manually, taking time and making them susceptible to bias</a:t>
            </a:r>
          </a:p>
          <a:p>
            <a:r>
              <a:rPr lang="en-GB" sz="2000" dirty="0"/>
              <a:t>With our model, this can be made automatic based solely on the physiochemical properties(!) </a:t>
            </a:r>
          </a:p>
        </p:txBody>
      </p:sp>
      <p:pic>
        <p:nvPicPr>
          <p:cNvPr id="7" name="Graphic 6" descr="Wine">
            <a:extLst>
              <a:ext uri="{FF2B5EF4-FFF2-40B4-BE49-F238E27FC236}">
                <a16:creationId xmlns:a16="http://schemas.microsoft.com/office/drawing/2014/main" id="{4F9812FC-13FA-4C11-BD38-2E1A48AB4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986" y="1069398"/>
            <a:ext cx="4747547" cy="47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2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rgbClr val="7EA9B0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90C27-4D28-524A-8A21-6DFE6980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225" y="279400"/>
            <a:ext cx="5362576" cy="1892300"/>
          </a:xfrm>
        </p:spPr>
        <p:txBody>
          <a:bodyPr>
            <a:normAutofit/>
          </a:bodyPr>
          <a:lstStyle/>
          <a:p>
            <a:r>
              <a:rPr lang="en-GB"/>
              <a:t>Our model on-par with human prediction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2717B-D706-4847-870F-B7451A50F0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852962"/>
              </p:ext>
            </p:extLst>
          </p:nvPr>
        </p:nvGraphicFramePr>
        <p:xfrm>
          <a:off x="838200" y="2028825"/>
          <a:ext cx="10515600" cy="4148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9163433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LightSeedRightStep">
      <a:dk1>
        <a:srgbClr val="000000"/>
      </a:dk1>
      <a:lt1>
        <a:srgbClr val="FFFFFF"/>
      </a:lt1>
      <a:dk2>
        <a:srgbClr val="243441"/>
      </a:dk2>
      <a:lt2>
        <a:srgbClr val="E8E3E2"/>
      </a:lt2>
      <a:accent1>
        <a:srgbClr val="7EA9B0"/>
      </a:accent1>
      <a:accent2>
        <a:srgbClr val="7F99BA"/>
      </a:accent2>
      <a:accent3>
        <a:srgbClr val="9697C6"/>
      </a:accent3>
      <a:accent4>
        <a:srgbClr val="967FBA"/>
      </a:accent4>
      <a:accent5>
        <a:srgbClr val="BC94C5"/>
      </a:accent5>
      <a:accent6>
        <a:srgbClr val="BA7FAC"/>
      </a:accent6>
      <a:hlink>
        <a:srgbClr val="AE7369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Macintosh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Elephant</vt:lpstr>
      <vt:lpstr>BrushVTI</vt:lpstr>
      <vt:lpstr>Assessing wine quality</vt:lpstr>
      <vt:lpstr>Vineyards always collect and sample their products</vt:lpstr>
      <vt:lpstr>All stakeholders to benefit from automatic quality assessment</vt:lpstr>
      <vt:lpstr>Our model on-par with human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wine quality</dc:title>
  <dc:creator>Anton Möller</dc:creator>
  <cp:lastModifiedBy>Anton Möller</cp:lastModifiedBy>
  <cp:revision>1</cp:revision>
  <dcterms:created xsi:type="dcterms:W3CDTF">2020-05-16T09:54:30Z</dcterms:created>
  <dcterms:modified xsi:type="dcterms:W3CDTF">2020-05-16T09:54:43Z</dcterms:modified>
</cp:coreProperties>
</file>